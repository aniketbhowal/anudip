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8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3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77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DBED-0D42-F32F-C447-DF8083E3A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96323-3093-8822-44FA-0E86A5C397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64912-D1D1-F7C0-A8F7-4822C44BE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522D0-693B-65C3-442E-F5A25F802895}"/>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205831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a:extLst>
            <a:ext uri="{FF2B5EF4-FFF2-40B4-BE49-F238E27FC236}">
              <a16:creationId xmlns:a16="http://schemas.microsoft.com/office/drawing/2014/main" id="{7C100D5F-DE71-D548-1D4E-94B29566E6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1BE783C-2C9D-7949-914A-3DC4CA7C37BA}"/>
              </a:ext>
            </a:extLst>
          </p:cNvPr>
          <p:cNvSpPr/>
          <p:nvPr/>
        </p:nvSpPr>
        <p:spPr>
          <a:xfrm>
            <a:off x="731520" y="1645920"/>
            <a:ext cx="7680960" cy="18288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Presentation on Information Technology</a:t>
            </a:r>
            <a:endParaRPr lang="en-US" sz="4400" dirty="0"/>
          </a:p>
        </p:txBody>
      </p:sp>
      <p:sp>
        <p:nvSpPr>
          <p:cNvPr id="5" name="TextBox 4">
            <a:extLst>
              <a:ext uri="{FF2B5EF4-FFF2-40B4-BE49-F238E27FC236}">
                <a16:creationId xmlns:a16="http://schemas.microsoft.com/office/drawing/2014/main" id="{08C471DB-D571-1AC0-14B8-02417AF86769}"/>
              </a:ext>
            </a:extLst>
          </p:cNvPr>
          <p:cNvSpPr txBox="1"/>
          <p:nvPr/>
        </p:nvSpPr>
        <p:spPr>
          <a:xfrm>
            <a:off x="4572000" y="3290054"/>
            <a:ext cx="4572000" cy="369332"/>
          </a:xfrm>
          <a:prstGeom prst="rect">
            <a:avLst/>
          </a:prstGeom>
          <a:noFill/>
        </p:spPr>
        <p:txBody>
          <a:bodyPr wrap="square">
            <a:spAutoFit/>
          </a:bodyPr>
          <a:lstStyle/>
          <a:p>
            <a:pPr algn="ctr"/>
            <a:r>
              <a:rPr lang="en-US" b="1" dirty="0">
                <a:solidFill>
                  <a:srgbClr val="FFFFFF"/>
                </a:solidFill>
                <a:latin typeface="Calibri" pitchFamily="34" charset="0"/>
                <a:ea typeface="Calibri" pitchFamily="34" charset="-122"/>
                <a:cs typeface="Calibri" pitchFamily="34" charset="-120"/>
              </a:rPr>
              <a:t>- By Aniket Bhowal</a:t>
            </a:r>
            <a:endParaRPr lang="en-US" dirty="0"/>
          </a:p>
        </p:txBody>
      </p:sp>
    </p:spTree>
    <p:extLst>
      <p:ext uri="{BB962C8B-B14F-4D97-AF65-F5344CB8AC3E}">
        <p14:creationId xmlns:p14="http://schemas.microsoft.com/office/powerpoint/2010/main" val="138750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Introduction to IT and Business Systems</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Fundamentals of Information Technology</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Information Technology (IT) encompasses the use of computers, networks, storage, and software to manage and process data. It forms the backbone of modern organizations, enabling them to store, retrieve, transmit, and manipulate information efficiently. Core concepts include hardware, software, networks, databases, and cybersecurity.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Role of IT in Business Operations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IT supports and enhances nearly every aspect of business operations — from automating repetitive tasks and streamlining communication to enabling data-driven decisions. It improves efficiency, reduces costs, and allows businesses to scale operations quickly. Examples include payroll systems, supply chain management, and customer service platforms.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Overview of Business Systems (e.g., ERP, CRM)</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Business systems are integrated software platforms that manage core business processes. ERP (Enterprise Resource Planning) unifies functions like finance, HR, and supply chain into one system. CRM (Customer Relationship Management) helps manage customer interactions and sales pipelines. These systems improve visibility and coordination across departments.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D. Interplay between IT and Business Strategy</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IT and business strategy are deeply interconnected. A well-aligned IT strategy supports business goals by enabling innovation, improving agility, and creating competitive advantages. Strategic IT decisions — such as cloud adoption or digital transformation — can redefine how a business creates and delivers value to its customers.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Data Types, Sources, and Lifecycle</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Understanding Different Data Types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 comes in three main types: Structured data is organized in fixed formats (e.g., spreadsheets, relational databases). Unstructured data has no predefined format (e.g., emails, images, videos). Semi-structured data falls in between, with some organizational properties (e.g., XML, JSON). Each type requires different tools and strategies for storage and analysis.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Common Data Sources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 originates from a wide variety of sources. Internal sources include transactional databases, employee records, and operational logs. External sources include social media, market research, and third-party providers. Databases store organized records, while APIs (Application Programming Interfaces) allow systems to exchange data in real time.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Data Collection Methods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Organizations collect data through surveys, web forms, sensor readings (IoT), system logs, web scraping, and API integrations. The collection method affects data quality and format. Choosing the right method depends on the type of data needed, the frequency of collection, and the intended use of the data.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D. Data Lifecycle Management</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The data lifecycle covers every stage from creation to deletion: Creation (data is generated or entered), Storage (data is saved in appropriate systems), Usage (data is accessed and analyzed), Archiving (older data is stored for compliance or reference), and Deletion (data is securely removed when no longer needed). Managing this lifecycle ensures data remains useful, compliant, and secure.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E. Data Quality and Integrity</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High-quality data is accurate, complete, consistent, timely, and relevant. Data integrity ensures that data remains unchanged and trustworthy throughout its lifecycle. Poor data quality leads to flawed analysis and poor decisions. Organizations use validation rules, audits, and data governance frameworks to maintain quality and integrity.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Introduction to Business Analyst Role</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Definition and Responsibilities of a Business Analyst</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A Business Analyst (BA) acts as a bridge between business stakeholders and technical teams. Key responsibilities include gathering and documenting requirements, analyzing business processes, identifying gaps, and recommending solutions. BAs ensure that technology projects deliver real business value by translating business needs into actionable specifications.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Key Skills for Business Analysts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Effective Business Analysts possess a blend of technical and interpersonal skills. Communication helps them convey complex ideas clearly to both technical and non-technical audiences. Analytical thinking enables them to break down problems and evaluate options. Problem-solving skills allow them to propose practical, impactful solutions to business challenges.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Business Analysis Methodologies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BAs use various methodologies depending on the project context. Agile methodology supports iterative development and continuous feedback, making it ideal for fast-changing environments. Waterfall methodology follows a sequential, phase-by-phase approach, better suited for projects with well-defined requirements and stable scope.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D. Stakeholder Management</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Stakeholder management involves identifying all parties affected by a project, understanding their interests and expectations, and ensuring their needs are met. BAs facilitate workshops, conduct interviews, manage conflicts, and keep stakeholders informed and engaged throughout the project lifecycle to ensure alignment and buy-in.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Data vs. Information</a:t>
            </a: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Distinguishing Raw Data from Processed Information</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Raw data consists of unprocessed facts, numbers, or observations — for example, a list of sales transactions. Information is data that has been processed, organized, and interpreted to provide meaning — for example, a summary of monthly revenue by region. Data is the input; information is the meaningful output derived from it.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The Transformation Process: Data → Information → Knowledge</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 is collected and cleaned, then processed and structured to produce information. When information is combined with experience, context, and judgment, it becomes knowledge. This knowledge-building process is essential for informed decision-making. For example: raw sales data → monthly trends (information) → pricing strategy (knowledge).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Value of Information in Decision Making</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Accurate and timely information is a critical asset in business decision-making. It reduces uncertainty, supports risk assessment, and enables leaders to choose the best course of action. Organizations that can transform data into actionable information quickly gain a significant competitive advantage in dynamic markets.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Overview of Data-Driven Decision Making</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Principles of Data-Driven Decision Making</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Data-driven decision making (DDDM) means using factual data as the primary basis for decisions rather than intuition or guesswork. Core principles include objectivity (rely on evidence), repeatability (documented processes), transparency (clear reasoning), and continuous improvement (learn from outcomes). DDDM encourages a culture of questioning assumptions with data.</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Benefits of Using Data for Decisions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Organizations that embrace data-driven approaches benefit from improved accuracy in forecasting, faster identification of problems and opportunities, reduced bias in decision-making, better resource allocation, and increased accountability. Data also enables organizations to measure the impact of their decisions and course-correct quickly.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Steps in the Data-Driven Decision Process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The data-driven decision process typically follows these steps: (1) Define the question or problem, (2) Collect relevant data, (3) Clean and prepare the data, (4) Analyze the data using appropriate tools, (5) Interpret findings and draw insights, (6) Make and implement the decision, (7) Monitor outcomes and iterate.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D. Challenges and Pitfalls in Data-Driven Approaches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Common challenges include poor data quality, data silos preventing access to complete information, confirmation bias (seeking data that supports preconceptions), over-reliance on metrics at the expense of intuition, and lack of data literacy among decision-makers. Addressing these requires strong governance, training, and a balanced analytical mindset.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Case Discussions / Real-Life Examples</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Analysis of Business Scenarios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Real-world case discussions bridge theory and practice by examining how organizations apply IT, data analysis, and business analysis concepts to solve actual challenges. These scenarios may cover areas such as digital transformation, CRM implementation, data governance failures, or successful data-driven strategy. Analyzing cases develops critical thinking and contextual understanding.</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1828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Introduction to Data Governance &amp; Data Ethics</a:t>
            </a:r>
            <a:endParaRPr lang="en-US"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A. What is Data Governance?</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 Governance is the set of policies, processes, roles, and standards that ensure data is managed as a valuable organizational asset. It defines who is accountable for data quality, how data is documented and catalogued, and how access is controlled. Effective governance improves trust in data and supports compliance and strategic use of information.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B. Principles of Data Ethics</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Data ethics involves applying moral principles to the collection, use, and sharing of data. Key principles include fairness (avoid discrimination), transparency (be open about data use), accountability (take responsibility for data practices), privacy (respect individuals' rights), and minimization (collect only what is necessary). Ethical data practices build trust and protect stakeholders.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C. Regulatory Compliance (e.g., GDPR, CCPA)</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Regulations such as GDPR (General Data Protection Regulation) in Europe and CCPA (California Consumer Privacy Act) in the US set legal standards for how personal data must be collected, stored, and used. Organizations must implement consent mechanisms, data subject rights processes, and breach notification procedures to remain compliant and avoid significant penalties.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AB"/>
          </a:solidFill>
          <a:ln w="12700">
            <a:solidFill>
              <a:srgbClr val="2E86AB"/>
            </a:solidFill>
            <a:prstDash val="solid"/>
          </a:ln>
        </p:spPr>
      </p:sp>
      <p:sp>
        <p:nvSpPr>
          <p:cNvPr id="3" name="Text 1"/>
          <p:cNvSpPr/>
          <p:nvPr/>
        </p:nvSpPr>
        <p:spPr>
          <a:xfrm>
            <a:off x="548640" y="320040"/>
            <a:ext cx="8046720" cy="822960"/>
          </a:xfrm>
          <a:prstGeom prst="rect">
            <a:avLst/>
          </a:prstGeom>
          <a:noFill/>
          <a:ln/>
        </p:spPr>
        <p:txBody>
          <a:bodyPr wrap="square" rtlCol="0" anchor="ctr"/>
          <a:lstStyle/>
          <a:p>
            <a:pPr marL="0" indent="0" algn="l">
              <a:buNone/>
            </a:pPr>
            <a:r>
              <a:rPr lang="en-US" sz="2200" b="1" dirty="0">
                <a:solidFill>
                  <a:srgbClr val="1C3557"/>
                </a:solidFill>
                <a:latin typeface="Calibri" pitchFamily="34" charset="0"/>
                <a:ea typeface="Calibri" pitchFamily="34" charset="-122"/>
                <a:cs typeface="Calibri" pitchFamily="34" charset="-120"/>
              </a:rPr>
              <a:t>D. Building a Culture of Responsible Data Use</a:t>
            </a:r>
            <a:endParaRPr lang="en-US" sz="2200" dirty="0"/>
          </a:p>
        </p:txBody>
      </p:sp>
      <p:sp>
        <p:nvSpPr>
          <p:cNvPr id="4" name="Shape 2"/>
          <p:cNvSpPr/>
          <p:nvPr/>
        </p:nvSpPr>
        <p:spPr>
          <a:xfrm>
            <a:off x="548640" y="1170432"/>
            <a:ext cx="8046720" cy="0"/>
          </a:xfrm>
          <a:prstGeom prst="line">
            <a:avLst/>
          </a:prstGeom>
          <a:noFill/>
          <a:ln w="12700">
            <a:solidFill>
              <a:srgbClr val="CCCCCC"/>
            </a:solidFill>
            <a:prstDash val="solid"/>
          </a:ln>
        </p:spPr>
      </p:sp>
      <p:sp>
        <p:nvSpPr>
          <p:cNvPr id="5" name="Text 3"/>
          <p:cNvSpPr/>
          <p:nvPr/>
        </p:nvSpPr>
        <p:spPr>
          <a:xfrm>
            <a:off x="548640" y="1325880"/>
            <a:ext cx="8046720" cy="3474720"/>
          </a:xfrm>
          <a:prstGeom prst="rect">
            <a:avLst/>
          </a:prstGeom>
          <a:noFill/>
          <a:ln/>
        </p:spPr>
        <p:txBody>
          <a:bodyPr wrap="square" rtlCol="0" anchor="t"/>
          <a:lstStyle/>
          <a:p>
            <a:pPr marL="0" indent="0" algn="l">
              <a:buNone/>
            </a:pPr>
            <a:r>
              <a:rPr lang="en-US" sz="1500" dirty="0">
                <a:solidFill>
                  <a:srgbClr val="444444"/>
                </a:solidFill>
                <a:latin typeface="Calibri" pitchFamily="34" charset="0"/>
                <a:ea typeface="Calibri" pitchFamily="34" charset="-122"/>
                <a:cs typeface="Calibri" pitchFamily="34" charset="-120"/>
              </a:rPr>
              <a:t>Responsible data use goes beyond compliance — it requires embedding ethical thinking into everyday business decisions. Organizations can foster this culture through training and awareness programs, clear data policies, leadership accountability, and rewarding ethical behavior. A responsible data culture builds trust with customers, partners, and regulators alike.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1701</Words>
  <Application>Microsoft Office PowerPoint</Application>
  <PresentationFormat>On-screen Show (16:9)</PresentationFormat>
  <Paragraphs>92</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Graknight .</cp:lastModifiedBy>
  <cp:revision>2</cp:revision>
  <dcterms:created xsi:type="dcterms:W3CDTF">2026-05-09T14:15:22Z</dcterms:created>
  <dcterms:modified xsi:type="dcterms:W3CDTF">2026-05-09T15:03:59Z</dcterms:modified>
</cp:coreProperties>
</file>